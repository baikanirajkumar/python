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658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 u="heavy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 u="heavy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 u="heavy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 u="heavy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1000759"/>
            <a:ext cx="1625600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 u="heavy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046812"/>
            <a:ext cx="16604615" cy="345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991" y="5143500"/>
            <a:ext cx="7991474" cy="48386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90546" y="405123"/>
            <a:ext cx="8750935" cy="1873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0815">
              <a:lnSpc>
                <a:spcPct val="116599"/>
              </a:lnSpc>
              <a:spcBef>
                <a:spcPts val="100"/>
              </a:spcBef>
            </a:pPr>
            <a:r>
              <a:rPr sz="5200" u="none" spc="-555" dirty="0">
                <a:solidFill>
                  <a:srgbClr val="8B52FF"/>
                </a:solidFill>
              </a:rPr>
              <a:t>JAYAMUKHI</a:t>
            </a:r>
            <a:r>
              <a:rPr sz="5200" u="none" spc="-484" dirty="0">
                <a:solidFill>
                  <a:srgbClr val="8B52FF"/>
                </a:solidFill>
              </a:rPr>
              <a:t> </a:t>
            </a:r>
            <a:r>
              <a:rPr sz="5200" u="none" spc="-515" dirty="0">
                <a:solidFill>
                  <a:srgbClr val="8B52FF"/>
                </a:solidFill>
              </a:rPr>
              <a:t>INSTITUTE</a:t>
            </a:r>
            <a:r>
              <a:rPr sz="5200" u="none" spc="-480" dirty="0">
                <a:solidFill>
                  <a:srgbClr val="8B52FF"/>
                </a:solidFill>
              </a:rPr>
              <a:t> </a:t>
            </a:r>
            <a:r>
              <a:rPr sz="5200" u="none" spc="-425" dirty="0">
                <a:solidFill>
                  <a:srgbClr val="8B52FF"/>
                </a:solidFill>
              </a:rPr>
              <a:t>OF </a:t>
            </a:r>
            <a:r>
              <a:rPr sz="5200" u="none" spc="-440" dirty="0">
                <a:solidFill>
                  <a:srgbClr val="8B52FF"/>
                </a:solidFill>
              </a:rPr>
              <a:t>TECHNOLOGICAL</a:t>
            </a:r>
            <a:r>
              <a:rPr sz="5200" u="none" spc="-509" dirty="0">
                <a:solidFill>
                  <a:srgbClr val="8B52FF"/>
                </a:solidFill>
              </a:rPr>
              <a:t> </a:t>
            </a:r>
            <a:r>
              <a:rPr sz="5200" u="none" spc="-475" dirty="0">
                <a:solidFill>
                  <a:srgbClr val="8B52FF"/>
                </a:solidFill>
              </a:rPr>
              <a:t>SCIENCE</a:t>
            </a:r>
            <a:endParaRPr sz="5200"/>
          </a:p>
        </p:txBody>
      </p:sp>
      <p:sp>
        <p:nvSpPr>
          <p:cNvPr id="5" name="object 5"/>
          <p:cNvSpPr txBox="1"/>
          <p:nvPr/>
        </p:nvSpPr>
        <p:spPr>
          <a:xfrm>
            <a:off x="3658532" y="2231814"/>
            <a:ext cx="10970895" cy="2646045"/>
          </a:xfrm>
          <a:prstGeom prst="rect">
            <a:avLst/>
          </a:prstGeom>
        </p:spPr>
        <p:txBody>
          <a:bodyPr vert="horz" wrap="square" lIns="0" tIns="3111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50"/>
              </a:spcBef>
            </a:pPr>
            <a:r>
              <a:rPr sz="4000" spc="-265" dirty="0">
                <a:solidFill>
                  <a:srgbClr val="7DAF37"/>
                </a:solidFill>
                <a:latin typeface="Arial Black"/>
                <a:cs typeface="Arial Black"/>
              </a:rPr>
              <a:t>Climate</a:t>
            </a:r>
            <a:r>
              <a:rPr sz="4000" spc="-365" dirty="0">
                <a:solidFill>
                  <a:srgbClr val="7DAF37"/>
                </a:solidFill>
                <a:latin typeface="Arial Black"/>
                <a:cs typeface="Arial Black"/>
              </a:rPr>
              <a:t> </a:t>
            </a:r>
            <a:r>
              <a:rPr sz="4000" spc="-315" dirty="0">
                <a:solidFill>
                  <a:srgbClr val="7DAF37"/>
                </a:solidFill>
                <a:latin typeface="Arial Black"/>
                <a:cs typeface="Arial Black"/>
              </a:rPr>
              <a:t>Change</a:t>
            </a:r>
            <a:r>
              <a:rPr sz="4000" spc="-360" dirty="0">
                <a:solidFill>
                  <a:srgbClr val="7DAF37"/>
                </a:solidFill>
                <a:latin typeface="Arial Black"/>
                <a:cs typeface="Arial Black"/>
              </a:rPr>
              <a:t> </a:t>
            </a:r>
            <a:r>
              <a:rPr sz="4000" spc="-275" dirty="0">
                <a:solidFill>
                  <a:srgbClr val="7DAF37"/>
                </a:solidFill>
                <a:latin typeface="Arial Black"/>
                <a:cs typeface="Arial Black"/>
              </a:rPr>
              <a:t>Impact</a:t>
            </a:r>
            <a:r>
              <a:rPr sz="4000" spc="-360" dirty="0">
                <a:solidFill>
                  <a:srgbClr val="7DAF37"/>
                </a:solidFill>
                <a:latin typeface="Arial Black"/>
                <a:cs typeface="Arial Black"/>
              </a:rPr>
              <a:t> </a:t>
            </a:r>
            <a:r>
              <a:rPr sz="4000" spc="-170" dirty="0">
                <a:solidFill>
                  <a:srgbClr val="7DAF37"/>
                </a:solidFill>
                <a:latin typeface="Arial Black"/>
                <a:cs typeface="Arial Black"/>
              </a:rPr>
              <a:t>on</a:t>
            </a:r>
            <a:r>
              <a:rPr sz="4000" spc="-360" dirty="0">
                <a:solidFill>
                  <a:srgbClr val="7DAF37"/>
                </a:solidFill>
                <a:latin typeface="Arial Black"/>
                <a:cs typeface="Arial Black"/>
              </a:rPr>
              <a:t> </a:t>
            </a:r>
            <a:r>
              <a:rPr sz="4000" spc="-240" dirty="0">
                <a:solidFill>
                  <a:srgbClr val="7DAF37"/>
                </a:solidFill>
                <a:latin typeface="Arial Black"/>
                <a:cs typeface="Arial Black"/>
              </a:rPr>
              <a:t>Agricultural</a:t>
            </a:r>
            <a:r>
              <a:rPr sz="4000" spc="-365" dirty="0">
                <a:solidFill>
                  <a:srgbClr val="7DAF37"/>
                </a:solidFill>
                <a:latin typeface="Arial Black"/>
                <a:cs typeface="Arial Black"/>
              </a:rPr>
              <a:t> </a:t>
            </a:r>
            <a:r>
              <a:rPr sz="4000" spc="-285" dirty="0">
                <a:solidFill>
                  <a:srgbClr val="7DAF37"/>
                </a:solidFill>
                <a:latin typeface="Arial Black"/>
                <a:cs typeface="Arial Black"/>
              </a:rPr>
              <a:t>Land</a:t>
            </a:r>
            <a:endParaRPr sz="40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2645"/>
              </a:spcBef>
            </a:pPr>
            <a:r>
              <a:rPr sz="4500" spc="50" dirty="0">
                <a:latin typeface="Lucida Sans Unicode"/>
                <a:cs typeface="Lucida Sans Unicode"/>
              </a:rPr>
              <a:t>Under</a:t>
            </a:r>
            <a:r>
              <a:rPr sz="4500" spc="-320" dirty="0">
                <a:latin typeface="Lucida Sans Unicode"/>
                <a:cs typeface="Lucida Sans Unicode"/>
              </a:rPr>
              <a:t> </a:t>
            </a:r>
            <a:r>
              <a:rPr sz="4500" spc="-60" dirty="0">
                <a:latin typeface="Lucida Sans Unicode"/>
                <a:cs typeface="Lucida Sans Unicode"/>
              </a:rPr>
              <a:t>The</a:t>
            </a:r>
            <a:r>
              <a:rPr sz="4500" spc="-315" dirty="0">
                <a:latin typeface="Lucida Sans Unicode"/>
                <a:cs typeface="Lucida Sans Unicode"/>
              </a:rPr>
              <a:t> </a:t>
            </a:r>
            <a:r>
              <a:rPr sz="4500" dirty="0">
                <a:latin typeface="Lucida Sans Unicode"/>
                <a:cs typeface="Lucida Sans Unicode"/>
              </a:rPr>
              <a:t>Guide</a:t>
            </a:r>
            <a:r>
              <a:rPr sz="4500" spc="-315" dirty="0">
                <a:latin typeface="Lucida Sans Unicode"/>
                <a:cs typeface="Lucida Sans Unicode"/>
              </a:rPr>
              <a:t> </a:t>
            </a:r>
            <a:r>
              <a:rPr sz="4500" spc="-25" dirty="0">
                <a:latin typeface="Lucida Sans Unicode"/>
                <a:cs typeface="Lucida Sans Unicode"/>
              </a:rPr>
              <a:t>of</a:t>
            </a:r>
            <a:endParaRPr sz="4500">
              <a:latin typeface="Lucida Sans Unicode"/>
              <a:cs typeface="Lucida Sans Unicode"/>
            </a:endParaRPr>
          </a:p>
          <a:p>
            <a:pPr marL="37465" algn="ctr">
              <a:lnSpc>
                <a:spcPct val="100000"/>
              </a:lnSpc>
              <a:spcBef>
                <a:spcPts val="1360"/>
              </a:spcBef>
            </a:pPr>
            <a:r>
              <a:rPr sz="3400" spc="-60" dirty="0">
                <a:latin typeface="Lucida Sans Unicode"/>
                <a:cs typeface="Lucida Sans Unicode"/>
              </a:rPr>
              <a:t>Dr.P.Srinivas</a:t>
            </a:r>
            <a:r>
              <a:rPr sz="3400" spc="-165" dirty="0">
                <a:latin typeface="Lucida Sans Unicode"/>
                <a:cs typeface="Lucida Sans Unicode"/>
              </a:rPr>
              <a:t> </a:t>
            </a:r>
            <a:r>
              <a:rPr sz="3400" spc="-25" dirty="0">
                <a:latin typeface="Lucida Sans Unicode"/>
                <a:cs typeface="Lucida Sans Unicode"/>
              </a:rPr>
              <a:t>Rao</a:t>
            </a:r>
            <a:endParaRPr sz="3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82035" y="6269724"/>
            <a:ext cx="3253104" cy="3335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sz="3400" spc="-235" dirty="0">
                <a:latin typeface="Arial Black"/>
                <a:cs typeface="Arial Black"/>
              </a:rPr>
              <a:t>Presented</a:t>
            </a:r>
            <a:r>
              <a:rPr sz="3400" spc="-305" dirty="0">
                <a:latin typeface="Arial Black"/>
                <a:cs typeface="Arial Black"/>
              </a:rPr>
              <a:t> </a:t>
            </a:r>
            <a:r>
              <a:rPr sz="3400" spc="-220" dirty="0">
                <a:latin typeface="Arial Black"/>
                <a:cs typeface="Arial Black"/>
              </a:rPr>
              <a:t>By</a:t>
            </a:r>
            <a:r>
              <a:rPr sz="3400" spc="-300" dirty="0">
                <a:latin typeface="Arial Black"/>
                <a:cs typeface="Arial Black"/>
              </a:rPr>
              <a:t> </a:t>
            </a:r>
            <a:r>
              <a:rPr sz="3400" spc="-25" dirty="0">
                <a:latin typeface="Arial Black"/>
                <a:cs typeface="Arial Black"/>
              </a:rPr>
              <a:t>:-</a:t>
            </a:r>
            <a:endParaRPr sz="3400">
              <a:latin typeface="Arial Black"/>
              <a:cs typeface="Arial Black"/>
            </a:endParaRPr>
          </a:p>
          <a:p>
            <a:pPr marL="12700" marR="107950">
              <a:lnSpc>
                <a:spcPct val="116100"/>
              </a:lnSpc>
              <a:spcBef>
                <a:spcPts val="2480"/>
              </a:spcBef>
            </a:pPr>
            <a:r>
              <a:rPr sz="2800" spc="-10" dirty="0">
                <a:latin typeface="Lucida Sans Unicode"/>
                <a:cs typeface="Lucida Sans Unicode"/>
              </a:rPr>
              <a:t>CH.Aravind</a:t>
            </a:r>
            <a:r>
              <a:rPr sz="2800" spc="-185" dirty="0">
                <a:latin typeface="Lucida Sans Unicode"/>
                <a:cs typeface="Lucida Sans Unicode"/>
              </a:rPr>
              <a:t> </a:t>
            </a:r>
            <a:r>
              <a:rPr sz="2800" spc="-20" dirty="0">
                <a:latin typeface="Lucida Sans Unicode"/>
                <a:cs typeface="Lucida Sans Unicode"/>
              </a:rPr>
              <a:t>Reddy </a:t>
            </a:r>
            <a:r>
              <a:rPr sz="2800" dirty="0">
                <a:latin typeface="Lucida Sans Unicode"/>
                <a:cs typeface="Lucida Sans Unicode"/>
              </a:rPr>
              <a:t>B.Raj</a:t>
            </a:r>
            <a:r>
              <a:rPr sz="2800" spc="-145" dirty="0">
                <a:latin typeface="Lucida Sans Unicode"/>
                <a:cs typeface="Lucida Sans Unicode"/>
              </a:rPr>
              <a:t> </a:t>
            </a:r>
            <a:r>
              <a:rPr sz="2800" spc="-20" dirty="0">
                <a:latin typeface="Lucida Sans Unicode"/>
                <a:cs typeface="Lucida Sans Unicode"/>
              </a:rPr>
              <a:t>Kumar </a:t>
            </a:r>
            <a:r>
              <a:rPr sz="2800" spc="-10" dirty="0">
                <a:latin typeface="Lucida Sans Unicode"/>
                <a:cs typeface="Lucida Sans Unicode"/>
              </a:rPr>
              <a:t>M.Mahesh M.Nithin T.Karthikeya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23264" y="7103440"/>
            <a:ext cx="2242185" cy="25019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640"/>
              </a:spcBef>
            </a:pPr>
            <a:r>
              <a:rPr sz="2800" spc="-70" dirty="0">
                <a:latin typeface="Lucida Sans Unicode"/>
                <a:cs typeface="Lucida Sans Unicode"/>
              </a:rPr>
              <a:t>22C41A6602</a:t>
            </a:r>
            <a:endParaRPr sz="2800">
              <a:latin typeface="Lucida Sans Unicode"/>
              <a:cs typeface="Lucida Sans Unicode"/>
            </a:endParaRPr>
          </a:p>
          <a:p>
            <a:pPr marL="85090">
              <a:lnSpc>
                <a:spcPct val="100000"/>
              </a:lnSpc>
              <a:spcBef>
                <a:spcPts val="540"/>
              </a:spcBef>
            </a:pPr>
            <a:r>
              <a:rPr sz="2800" spc="-120" dirty="0">
                <a:latin typeface="Lucida Sans Unicode"/>
                <a:cs typeface="Lucida Sans Unicode"/>
              </a:rPr>
              <a:t>22C41A6614</a:t>
            </a:r>
            <a:endParaRPr sz="2800">
              <a:latin typeface="Lucida Sans Unicode"/>
              <a:cs typeface="Lucida Sans Unicode"/>
            </a:endParaRPr>
          </a:p>
          <a:p>
            <a:pPr marL="45085">
              <a:lnSpc>
                <a:spcPct val="100000"/>
              </a:lnSpc>
              <a:spcBef>
                <a:spcPts val="540"/>
              </a:spcBef>
            </a:pPr>
            <a:r>
              <a:rPr sz="2800" spc="-90" dirty="0">
                <a:latin typeface="Lucida Sans Unicode"/>
                <a:cs typeface="Lucida Sans Unicode"/>
              </a:rPr>
              <a:t>22C41A6638</a:t>
            </a:r>
            <a:endParaRPr sz="2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800" spc="-65" dirty="0">
                <a:latin typeface="Lucida Sans Unicode"/>
                <a:cs typeface="Lucida Sans Unicode"/>
              </a:rPr>
              <a:t>22C41A6640</a:t>
            </a:r>
            <a:endParaRPr sz="2800">
              <a:latin typeface="Lucida Sans Unicode"/>
              <a:cs typeface="Lucida Sans Unicode"/>
            </a:endParaRPr>
          </a:p>
          <a:p>
            <a:pPr marL="15875">
              <a:lnSpc>
                <a:spcPct val="100000"/>
              </a:lnSpc>
              <a:spcBef>
                <a:spcPts val="540"/>
              </a:spcBef>
            </a:pPr>
            <a:r>
              <a:rPr sz="2800" spc="-65" dirty="0">
                <a:latin typeface="Lucida Sans Unicode"/>
                <a:cs typeface="Lucida Sans Unicode"/>
              </a:rPr>
              <a:t>22C41A6660</a:t>
            </a:r>
            <a:endParaRPr sz="2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650" y="0"/>
            <a:ext cx="17894708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1592" y="1259398"/>
            <a:ext cx="321691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490" dirty="0"/>
              <a:t>CONTENT</a:t>
            </a:r>
            <a:endParaRPr sz="5200"/>
          </a:p>
        </p:txBody>
      </p:sp>
      <p:sp>
        <p:nvSpPr>
          <p:cNvPr id="4" name="object 4"/>
          <p:cNvSpPr txBox="1"/>
          <p:nvPr/>
        </p:nvSpPr>
        <p:spPr>
          <a:xfrm>
            <a:off x="1081936" y="2685588"/>
            <a:ext cx="8587740" cy="361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2595" indent="-43497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42595" algn="l"/>
              </a:tabLst>
            </a:pPr>
            <a:r>
              <a:rPr sz="3500" spc="-10" dirty="0">
                <a:latin typeface="Lucida Sans Unicode"/>
                <a:cs typeface="Lucida Sans Unicode"/>
              </a:rPr>
              <a:t>Abstract</a:t>
            </a:r>
            <a:endParaRPr sz="3500" dirty="0">
              <a:latin typeface="Lucida Sans Unicode"/>
              <a:cs typeface="Lucida Sans Unicode"/>
            </a:endParaRPr>
          </a:p>
          <a:p>
            <a:pPr marL="23495" marR="5080" indent="-15875">
              <a:lnSpc>
                <a:spcPts val="8030"/>
              </a:lnSpc>
              <a:spcBef>
                <a:spcPts val="900"/>
              </a:spcBef>
              <a:buAutoNum type="arabicPeriod"/>
              <a:tabLst>
                <a:tab pos="442595" algn="l"/>
              </a:tabLst>
            </a:pPr>
            <a:r>
              <a:rPr sz="3500" spc="50" dirty="0" smtClean="0">
                <a:latin typeface="Lucida Sans Unicode"/>
                <a:cs typeface="Lucida Sans Unicode"/>
              </a:rPr>
              <a:t>Software</a:t>
            </a:r>
            <a:r>
              <a:rPr sz="3500" spc="-215" dirty="0" smtClean="0">
                <a:latin typeface="Lucida Sans Unicode"/>
                <a:cs typeface="Lucida Sans Unicode"/>
              </a:rPr>
              <a:t> </a:t>
            </a:r>
            <a:r>
              <a:rPr sz="3500" dirty="0">
                <a:latin typeface="Lucida Sans Unicode"/>
                <a:cs typeface="Lucida Sans Unicode"/>
              </a:rPr>
              <a:t>and</a:t>
            </a:r>
            <a:r>
              <a:rPr sz="3500" spc="-215" dirty="0">
                <a:latin typeface="Lucida Sans Unicode"/>
                <a:cs typeface="Lucida Sans Unicode"/>
              </a:rPr>
              <a:t> </a:t>
            </a:r>
            <a:r>
              <a:rPr sz="3500" dirty="0">
                <a:latin typeface="Lucida Sans Unicode"/>
                <a:cs typeface="Lucida Sans Unicode"/>
              </a:rPr>
              <a:t>Hardware</a:t>
            </a:r>
            <a:r>
              <a:rPr sz="3500" spc="-215" dirty="0">
                <a:latin typeface="Lucida Sans Unicode"/>
                <a:cs typeface="Lucida Sans Unicode"/>
              </a:rPr>
              <a:t> </a:t>
            </a:r>
            <a:r>
              <a:rPr sz="3500" spc="-10" dirty="0">
                <a:latin typeface="Lucida Sans Unicode"/>
                <a:cs typeface="Lucida Sans Unicode"/>
              </a:rPr>
              <a:t>Requirements </a:t>
            </a:r>
            <a:r>
              <a:rPr sz="3500" spc="-204" dirty="0">
                <a:latin typeface="Lucida Sans Unicode"/>
                <a:cs typeface="Lucida Sans Unicode"/>
              </a:rPr>
              <a:t>3.</a:t>
            </a:r>
            <a:r>
              <a:rPr sz="3500" spc="-745" dirty="0">
                <a:latin typeface="Lucida Sans Unicode"/>
                <a:cs typeface="Lucida Sans Unicode"/>
              </a:rPr>
              <a:t> </a:t>
            </a:r>
            <a:r>
              <a:rPr sz="3500" spc="-20" dirty="0">
                <a:latin typeface="Lucida Sans Unicode"/>
                <a:cs typeface="Lucida Sans Unicode"/>
              </a:rPr>
              <a:t>Advantages</a:t>
            </a:r>
            <a:r>
              <a:rPr sz="3500" spc="-210" dirty="0">
                <a:latin typeface="Lucida Sans Unicode"/>
                <a:cs typeface="Lucida Sans Unicode"/>
              </a:rPr>
              <a:t> </a:t>
            </a:r>
            <a:r>
              <a:rPr sz="3500" spc="-130" dirty="0">
                <a:latin typeface="Lucida Sans Unicode"/>
                <a:cs typeface="Lucida Sans Unicode"/>
              </a:rPr>
              <a:t>&amp;</a:t>
            </a:r>
            <a:r>
              <a:rPr sz="3500" spc="-210" dirty="0">
                <a:latin typeface="Lucida Sans Unicode"/>
                <a:cs typeface="Lucida Sans Unicode"/>
              </a:rPr>
              <a:t> </a:t>
            </a:r>
            <a:r>
              <a:rPr sz="3500" spc="-10" dirty="0">
                <a:latin typeface="Lucida Sans Unicode"/>
                <a:cs typeface="Lucida Sans Unicode"/>
              </a:rPr>
              <a:t>Disadvantages</a:t>
            </a:r>
            <a:endParaRPr sz="35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915"/>
              </a:spcBef>
            </a:pPr>
            <a:r>
              <a:rPr sz="3500" spc="-165" dirty="0">
                <a:latin typeface="Lucida Sans Unicode"/>
                <a:cs typeface="Lucida Sans Unicode"/>
              </a:rPr>
              <a:t>4.</a:t>
            </a:r>
            <a:r>
              <a:rPr sz="3500" spc="-745" dirty="0">
                <a:latin typeface="Lucida Sans Unicode"/>
                <a:cs typeface="Lucida Sans Unicode"/>
              </a:rPr>
              <a:t> </a:t>
            </a:r>
            <a:r>
              <a:rPr sz="3500" spc="-10" dirty="0">
                <a:latin typeface="Lucida Sans Unicode"/>
                <a:cs typeface="Lucida Sans Unicode"/>
              </a:rPr>
              <a:t>Conclusion</a:t>
            </a:r>
            <a:endParaRPr sz="35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6000" y="2012294"/>
            <a:ext cx="17117695" cy="722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52475" algn="just">
              <a:lnSpc>
                <a:spcPct val="115799"/>
              </a:lnSpc>
              <a:spcBef>
                <a:spcPts val="100"/>
              </a:spcBef>
            </a:pP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Abstract</a:t>
            </a:r>
            <a:r>
              <a:rPr sz="3400" spc="11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Climate</a:t>
            </a:r>
            <a:r>
              <a:rPr sz="3400" spc="11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change</a:t>
            </a:r>
            <a:r>
              <a:rPr sz="3400" spc="114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poses</a:t>
            </a:r>
            <a:r>
              <a:rPr sz="3400" spc="11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</a:t>
            </a:r>
            <a:r>
              <a:rPr sz="3400" spc="114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significant</a:t>
            </a:r>
            <a:r>
              <a:rPr sz="3400" spc="11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threat</a:t>
            </a:r>
            <a:r>
              <a:rPr sz="3400" spc="114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to</a:t>
            </a:r>
            <a:r>
              <a:rPr sz="3400" spc="11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global</a:t>
            </a:r>
            <a:r>
              <a:rPr sz="3400" spc="114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food</a:t>
            </a:r>
            <a:r>
              <a:rPr sz="3400" spc="11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security</a:t>
            </a:r>
            <a:r>
              <a:rPr sz="3400" spc="114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45" dirty="0">
                <a:solidFill>
                  <a:srgbClr val="4F4433"/>
                </a:solidFill>
                <a:latin typeface="Lucida Sans Unicode"/>
                <a:cs typeface="Lucida Sans Unicode"/>
              </a:rPr>
              <a:t>by </a:t>
            </a:r>
            <a:r>
              <a:rPr sz="3400" spc="-30" dirty="0">
                <a:solidFill>
                  <a:srgbClr val="4F4433"/>
                </a:solidFill>
                <a:latin typeface="Lucida Sans Unicode"/>
                <a:cs typeface="Lucida Sans Unicode"/>
              </a:rPr>
              <a:t>impacting</a:t>
            </a:r>
            <a:r>
              <a:rPr sz="3400" spc="-12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20" dirty="0">
                <a:solidFill>
                  <a:srgbClr val="4F4433"/>
                </a:solidFill>
                <a:latin typeface="Lucida Sans Unicode"/>
                <a:cs typeface="Lucida Sans Unicode"/>
              </a:rPr>
              <a:t>agricultural</a:t>
            </a:r>
            <a:r>
              <a:rPr sz="3400" spc="-12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productivity</a:t>
            </a:r>
            <a:r>
              <a:rPr sz="3400" spc="-12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and</a:t>
            </a:r>
            <a:r>
              <a:rPr sz="3400" spc="-12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land</a:t>
            </a:r>
            <a:r>
              <a:rPr sz="3400" spc="-114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10" dirty="0">
                <a:solidFill>
                  <a:srgbClr val="4F4433"/>
                </a:solidFill>
                <a:latin typeface="Lucida Sans Unicode"/>
                <a:cs typeface="Lucida Sans Unicode"/>
              </a:rPr>
              <a:t>suitability.</a:t>
            </a:r>
            <a:endParaRPr sz="3400">
              <a:latin typeface="Lucida Sans Unicode"/>
              <a:cs typeface="Lucida Sans Unicode"/>
            </a:endParaRPr>
          </a:p>
          <a:p>
            <a:pPr marL="12700" marR="5080" indent="794385" algn="just">
              <a:lnSpc>
                <a:spcPct val="115799"/>
              </a:lnSpc>
              <a:spcBef>
                <a:spcPts val="4725"/>
              </a:spcBef>
            </a:pP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This</a:t>
            </a:r>
            <a:r>
              <a:rPr sz="3400" spc="-65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research</a:t>
            </a:r>
            <a:r>
              <a:rPr sz="3400" spc="-6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aims</a:t>
            </a:r>
            <a:r>
              <a:rPr sz="3400" spc="-6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to</a:t>
            </a:r>
            <a:r>
              <a:rPr sz="3400" spc="-6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assess</a:t>
            </a:r>
            <a:r>
              <a:rPr sz="3400" spc="-6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and</a:t>
            </a:r>
            <a:r>
              <a:rPr sz="3400" spc="-6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predict</a:t>
            </a:r>
            <a:r>
              <a:rPr sz="3400" spc="-6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the</a:t>
            </a:r>
            <a:r>
              <a:rPr sz="3400" spc="-6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risks</a:t>
            </a:r>
            <a:r>
              <a:rPr sz="3400" spc="-6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associated</a:t>
            </a:r>
            <a:r>
              <a:rPr sz="3400" spc="-6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with</a:t>
            </a:r>
            <a:r>
              <a:rPr sz="3400" spc="-6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spc="-20" dirty="0">
                <a:solidFill>
                  <a:srgbClr val="4F4433"/>
                </a:solidFill>
                <a:latin typeface="Lucida Sans Unicode"/>
                <a:cs typeface="Lucida Sans Unicode"/>
              </a:rPr>
              <a:t>land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degradation</a:t>
            </a:r>
            <a:r>
              <a:rPr sz="3400" spc="28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and</a:t>
            </a:r>
            <a:r>
              <a:rPr sz="3400" spc="285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altered</a:t>
            </a:r>
            <a:r>
              <a:rPr sz="3400" spc="285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irrigation</a:t>
            </a:r>
            <a:r>
              <a:rPr sz="3400" spc="28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patterns,</a:t>
            </a:r>
            <a:r>
              <a:rPr sz="3400" spc="285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which</a:t>
            </a:r>
            <a:r>
              <a:rPr sz="3400" spc="285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directly</a:t>
            </a:r>
            <a:r>
              <a:rPr sz="3400" spc="280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influence</a:t>
            </a:r>
            <a:r>
              <a:rPr sz="3400" spc="285" dirty="0">
                <a:solidFill>
                  <a:srgbClr val="4F4433"/>
                </a:solidFill>
                <a:latin typeface="Lucida Sans Unicode"/>
                <a:cs typeface="Lucida Sans Unicode"/>
              </a:rPr>
              <a:t>  </a:t>
            </a:r>
            <a:r>
              <a:rPr sz="3400" spc="-20" dirty="0">
                <a:solidFill>
                  <a:srgbClr val="4F4433"/>
                </a:solidFill>
                <a:latin typeface="Lucida Sans Unicode"/>
                <a:cs typeface="Lucida Sans Unicode"/>
              </a:rPr>
              <a:t>food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production</a:t>
            </a:r>
            <a:r>
              <a:rPr sz="3400" spc="-13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10" dirty="0">
                <a:solidFill>
                  <a:srgbClr val="4F4433"/>
                </a:solidFill>
                <a:latin typeface="Lucida Sans Unicode"/>
                <a:cs typeface="Lucida Sans Unicode"/>
              </a:rPr>
              <a:t>systems.</a:t>
            </a:r>
            <a:endParaRPr sz="3400">
              <a:latin typeface="Lucida Sans Unicode"/>
              <a:cs typeface="Lucida Sans Unicode"/>
            </a:endParaRPr>
          </a:p>
          <a:p>
            <a:pPr marL="12700" marR="5080" indent="729615" algn="just">
              <a:lnSpc>
                <a:spcPct val="115799"/>
              </a:lnSpc>
              <a:spcBef>
                <a:spcPts val="4725"/>
              </a:spcBef>
            </a:pP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Our</a:t>
            </a:r>
            <a:r>
              <a:rPr sz="3400" spc="84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model</a:t>
            </a:r>
            <a:r>
              <a:rPr sz="3400" spc="84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achieves</a:t>
            </a:r>
            <a:r>
              <a:rPr sz="3400" spc="84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an</a:t>
            </a:r>
            <a:r>
              <a:rPr sz="3400" spc="84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impressive</a:t>
            </a:r>
            <a:r>
              <a:rPr sz="3400" spc="844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60" dirty="0">
                <a:solidFill>
                  <a:srgbClr val="4F4433"/>
                </a:solidFill>
                <a:latin typeface="Lucida Sans Unicode"/>
                <a:cs typeface="Lucida Sans Unicode"/>
              </a:rPr>
              <a:t>accuracy</a:t>
            </a:r>
            <a:r>
              <a:rPr sz="3400" spc="84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of</a:t>
            </a:r>
            <a:r>
              <a:rPr sz="3400" spc="84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150" dirty="0">
                <a:solidFill>
                  <a:srgbClr val="4F4433"/>
                </a:solidFill>
                <a:latin typeface="Lucida Sans Unicode"/>
                <a:cs typeface="Lucida Sans Unicode"/>
              </a:rPr>
              <a:t>86%</a:t>
            </a:r>
            <a:r>
              <a:rPr sz="3400" spc="84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and</a:t>
            </a:r>
            <a:r>
              <a:rPr sz="3400" spc="844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</a:t>
            </a:r>
            <a:r>
              <a:rPr sz="3400" spc="84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mean</a:t>
            </a:r>
            <a:r>
              <a:rPr sz="3400" spc="84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10" dirty="0">
                <a:solidFill>
                  <a:srgbClr val="4F4433"/>
                </a:solidFill>
                <a:latin typeface="Lucida Sans Unicode"/>
                <a:cs typeface="Lucida Sans Unicode"/>
              </a:rPr>
              <a:t>average precision</a:t>
            </a:r>
            <a:r>
              <a:rPr sz="3400" spc="-20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of</a:t>
            </a:r>
            <a:r>
              <a:rPr sz="3400" spc="-19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65" dirty="0">
                <a:solidFill>
                  <a:srgbClr val="4F4433"/>
                </a:solidFill>
                <a:latin typeface="Lucida Sans Unicode"/>
                <a:cs typeface="Lucida Sans Unicode"/>
              </a:rPr>
              <a:t>72%,</a:t>
            </a:r>
            <a:r>
              <a:rPr sz="3400" spc="-20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25" dirty="0">
                <a:solidFill>
                  <a:srgbClr val="4F4433"/>
                </a:solidFill>
                <a:latin typeface="Lucida Sans Unicode"/>
                <a:cs typeface="Lucida Sans Unicode"/>
              </a:rPr>
              <a:t>demonstrating</a:t>
            </a:r>
            <a:r>
              <a:rPr sz="3400" spc="-19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10" dirty="0">
                <a:solidFill>
                  <a:srgbClr val="4F4433"/>
                </a:solidFill>
                <a:latin typeface="Lucida Sans Unicode"/>
                <a:cs typeface="Lucida Sans Unicode"/>
              </a:rPr>
              <a:t>its</a:t>
            </a:r>
            <a:r>
              <a:rPr sz="3400" spc="-20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potential</a:t>
            </a:r>
            <a:r>
              <a:rPr sz="3400" spc="-19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to</a:t>
            </a:r>
            <a:r>
              <a:rPr sz="3400" spc="-20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support</a:t>
            </a:r>
            <a:r>
              <a:rPr sz="3400" spc="-19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10" dirty="0">
                <a:solidFill>
                  <a:srgbClr val="4F4433"/>
                </a:solidFill>
                <a:latin typeface="Lucida Sans Unicode"/>
                <a:cs typeface="Lucida Sans Unicode"/>
              </a:rPr>
              <a:t>informed</a:t>
            </a:r>
            <a:r>
              <a:rPr sz="3400" spc="-19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10" dirty="0">
                <a:solidFill>
                  <a:srgbClr val="4F4433"/>
                </a:solidFill>
                <a:latin typeface="Lucida Sans Unicode"/>
                <a:cs typeface="Lucida Sans Unicode"/>
              </a:rPr>
              <a:t>decisionmaking.</a:t>
            </a:r>
            <a:endParaRPr sz="3400">
              <a:latin typeface="Lucida Sans Unicode"/>
              <a:cs typeface="Lucida Sans Unicode"/>
            </a:endParaRPr>
          </a:p>
          <a:p>
            <a:pPr marL="12700" marR="5080" indent="553720">
              <a:lnSpc>
                <a:spcPct val="115799"/>
              </a:lnSpc>
              <a:spcBef>
                <a:spcPts val="4725"/>
              </a:spcBef>
            </a:pPr>
            <a:r>
              <a:rPr sz="3400" spc="-60" dirty="0">
                <a:solidFill>
                  <a:srgbClr val="4F4433"/>
                </a:solidFill>
                <a:latin typeface="Lucida Sans Unicode"/>
                <a:cs typeface="Lucida Sans Unicode"/>
              </a:rPr>
              <a:t>The</a:t>
            </a:r>
            <a:r>
              <a:rPr sz="3400" spc="-13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70" dirty="0">
                <a:solidFill>
                  <a:srgbClr val="4F4433"/>
                </a:solidFill>
                <a:latin typeface="Lucida Sans Unicode"/>
                <a:cs typeface="Lucida Sans Unicode"/>
              </a:rPr>
              <a:t>insights</a:t>
            </a:r>
            <a:r>
              <a:rPr sz="3400" spc="-13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derived</a:t>
            </a:r>
            <a:r>
              <a:rPr sz="3400" spc="-13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from</a:t>
            </a:r>
            <a:r>
              <a:rPr sz="3400" spc="-13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this</a:t>
            </a:r>
            <a:r>
              <a:rPr sz="3400" spc="-13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research</a:t>
            </a:r>
            <a:r>
              <a:rPr sz="3400" spc="-13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are</a:t>
            </a:r>
            <a:r>
              <a:rPr sz="3400" spc="-13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especially</a:t>
            </a:r>
            <a:r>
              <a:rPr sz="3400" spc="-13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valuable</a:t>
            </a:r>
            <a:r>
              <a:rPr sz="3400" spc="-13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for</a:t>
            </a:r>
            <a:r>
              <a:rPr sz="3400" spc="-13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10" dirty="0">
                <a:solidFill>
                  <a:srgbClr val="4F4433"/>
                </a:solidFill>
                <a:latin typeface="Lucida Sans Unicode"/>
                <a:cs typeface="Lucida Sans Unicode"/>
              </a:rPr>
              <a:t>policymakers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and</a:t>
            </a:r>
            <a:r>
              <a:rPr sz="3400" spc="-15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20" dirty="0">
                <a:solidFill>
                  <a:srgbClr val="4F4433"/>
                </a:solidFill>
                <a:latin typeface="Lucida Sans Unicode"/>
                <a:cs typeface="Lucida Sans Unicode"/>
              </a:rPr>
              <a:t>agricultural</a:t>
            </a:r>
            <a:r>
              <a:rPr sz="3400" spc="-15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planners</a:t>
            </a:r>
            <a:r>
              <a:rPr sz="3400" spc="-15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55" dirty="0">
                <a:solidFill>
                  <a:srgbClr val="4F4433"/>
                </a:solidFill>
                <a:latin typeface="Lucida Sans Unicode"/>
                <a:cs typeface="Lucida Sans Unicode"/>
              </a:rPr>
              <a:t>in</a:t>
            </a:r>
            <a:r>
              <a:rPr sz="3400" spc="-15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Eastern</a:t>
            </a:r>
            <a:r>
              <a:rPr sz="3400" spc="-15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Europe</a:t>
            </a:r>
            <a:r>
              <a:rPr sz="3400" spc="-15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and</a:t>
            </a:r>
            <a:r>
              <a:rPr sz="3400" spc="-150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dirty="0">
                <a:solidFill>
                  <a:srgbClr val="4F4433"/>
                </a:solidFill>
                <a:latin typeface="Lucida Sans Unicode"/>
                <a:cs typeface="Lucida Sans Unicode"/>
              </a:rPr>
              <a:t>Northern</a:t>
            </a:r>
            <a:r>
              <a:rPr sz="3400" spc="-155" dirty="0">
                <a:solidFill>
                  <a:srgbClr val="4F4433"/>
                </a:solidFill>
                <a:latin typeface="Lucida Sans Unicode"/>
                <a:cs typeface="Lucida Sans Unicode"/>
              </a:rPr>
              <a:t> </a:t>
            </a:r>
            <a:r>
              <a:rPr sz="3400" spc="-20" dirty="0">
                <a:solidFill>
                  <a:srgbClr val="4F4433"/>
                </a:solidFill>
                <a:latin typeface="Lucida Sans Unicode"/>
                <a:cs typeface="Lucida Sans Unicode"/>
              </a:rPr>
              <a:t>Asia</a:t>
            </a:r>
            <a:endParaRPr sz="3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100"/>
              </a:spcBef>
            </a:pPr>
            <a:r>
              <a:rPr spc="-380" dirty="0"/>
              <a:t>ABSTRACT:-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682625"/>
            <a:ext cx="633920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Hardware</a:t>
            </a:r>
            <a:r>
              <a:rPr spc="-409" dirty="0"/>
              <a:t> </a:t>
            </a:r>
            <a:r>
              <a:rPr spc="-29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1254438"/>
            <a:ext cx="16301085" cy="792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88730">
              <a:lnSpc>
                <a:spcPct val="158100"/>
              </a:lnSpc>
              <a:spcBef>
                <a:spcPts val="100"/>
              </a:spcBef>
            </a:pPr>
            <a:r>
              <a:rPr sz="3400" spc="-210" dirty="0">
                <a:latin typeface="Lucida Sans Unicode"/>
                <a:cs typeface="Lucida Sans Unicode"/>
              </a:rPr>
              <a:t>High-</a:t>
            </a:r>
            <a:r>
              <a:rPr sz="3400" dirty="0">
                <a:latin typeface="Lucida Sans Unicode"/>
                <a:cs typeface="Lucida Sans Unicode"/>
              </a:rPr>
              <a:t>Performance</a:t>
            </a:r>
            <a:r>
              <a:rPr sz="3400" spc="-9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Workstation</a:t>
            </a:r>
            <a:r>
              <a:rPr sz="3400" spc="-90" dirty="0">
                <a:latin typeface="Lucida Sans Unicode"/>
                <a:cs typeface="Lucida Sans Unicode"/>
              </a:rPr>
              <a:t> </a:t>
            </a:r>
            <a:r>
              <a:rPr sz="3400" spc="-484" dirty="0">
                <a:latin typeface="Lucida Sans Unicode"/>
                <a:cs typeface="Lucida Sans Unicode"/>
              </a:rPr>
              <a:t>/</a:t>
            </a:r>
            <a:r>
              <a:rPr sz="3400" spc="-95" dirty="0">
                <a:latin typeface="Lucida Sans Unicode"/>
                <a:cs typeface="Lucida Sans Unicode"/>
              </a:rPr>
              <a:t> </a:t>
            </a:r>
            <a:r>
              <a:rPr sz="3400" spc="150" dirty="0">
                <a:latin typeface="Lucida Sans Unicode"/>
                <a:cs typeface="Lucida Sans Unicode"/>
              </a:rPr>
              <a:t>PC </a:t>
            </a:r>
            <a:r>
              <a:rPr sz="3400" spc="75" dirty="0">
                <a:latin typeface="Lucida Sans Unicode"/>
                <a:cs typeface="Lucida Sans Unicode"/>
              </a:rPr>
              <a:t>CPU:</a:t>
            </a:r>
            <a:r>
              <a:rPr sz="3400" spc="-204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Intel</a:t>
            </a:r>
            <a:r>
              <a:rPr sz="3400" spc="-200" dirty="0">
                <a:latin typeface="Lucida Sans Unicode"/>
                <a:cs typeface="Lucida Sans Unicode"/>
              </a:rPr>
              <a:t> </a:t>
            </a:r>
            <a:r>
              <a:rPr sz="3400" spc="-245" dirty="0">
                <a:latin typeface="Lucida Sans Unicode"/>
                <a:cs typeface="Lucida Sans Unicode"/>
              </a:rPr>
              <a:t>i7/i9</a:t>
            </a:r>
            <a:r>
              <a:rPr sz="3400" spc="-204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or</a:t>
            </a:r>
            <a:r>
              <a:rPr sz="3400" spc="-20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AMD</a:t>
            </a:r>
            <a:r>
              <a:rPr sz="3400" spc="-204" dirty="0">
                <a:latin typeface="Lucida Sans Unicode"/>
                <a:cs typeface="Lucida Sans Unicode"/>
              </a:rPr>
              <a:t> </a:t>
            </a:r>
            <a:r>
              <a:rPr sz="3400" spc="-45" dirty="0">
                <a:latin typeface="Lucida Sans Unicode"/>
                <a:cs typeface="Lucida Sans Unicode"/>
              </a:rPr>
              <a:t>Ryzen</a:t>
            </a:r>
            <a:r>
              <a:rPr sz="3400" spc="-200" dirty="0">
                <a:latin typeface="Lucida Sans Unicode"/>
                <a:cs typeface="Lucida Sans Unicode"/>
              </a:rPr>
              <a:t> </a:t>
            </a:r>
            <a:r>
              <a:rPr sz="3400" spc="-370" dirty="0">
                <a:latin typeface="Lucida Sans Unicode"/>
                <a:cs typeface="Lucida Sans Unicode"/>
              </a:rPr>
              <a:t>7/9 </a:t>
            </a:r>
            <a:r>
              <a:rPr sz="3400" spc="-10" dirty="0">
                <a:latin typeface="Lucida Sans Unicode"/>
                <a:cs typeface="Lucida Sans Unicode"/>
              </a:rPr>
              <a:t>RAM:</a:t>
            </a:r>
            <a:r>
              <a:rPr sz="3400" spc="-235" dirty="0">
                <a:latin typeface="Lucida Sans Unicode"/>
                <a:cs typeface="Lucida Sans Unicode"/>
              </a:rPr>
              <a:t> </a:t>
            </a:r>
            <a:r>
              <a:rPr sz="3400" spc="-55" dirty="0">
                <a:latin typeface="Lucida Sans Unicode"/>
                <a:cs typeface="Lucida Sans Unicode"/>
              </a:rPr>
              <a:t>16–64</a:t>
            </a:r>
            <a:r>
              <a:rPr sz="3400" spc="-229" dirty="0">
                <a:latin typeface="Lucida Sans Unicode"/>
                <a:cs typeface="Lucida Sans Unicode"/>
              </a:rPr>
              <a:t> </a:t>
            </a:r>
            <a:r>
              <a:rPr sz="3400" spc="170" dirty="0">
                <a:latin typeface="Lucida Sans Unicode"/>
                <a:cs typeface="Lucida Sans Unicode"/>
              </a:rPr>
              <a:t>GB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370"/>
              </a:spcBef>
            </a:pPr>
            <a:r>
              <a:rPr sz="3400" spc="-20" dirty="0">
                <a:latin typeface="Lucida Sans Unicode"/>
                <a:cs typeface="Lucida Sans Unicode"/>
              </a:rPr>
              <a:t>Storage: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spc="160" dirty="0">
                <a:latin typeface="Lucida Sans Unicode"/>
                <a:cs typeface="Lucida Sans Unicode"/>
              </a:rPr>
              <a:t>SSD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spc="-215" dirty="0">
                <a:latin typeface="Lucida Sans Unicode"/>
                <a:cs typeface="Lucida Sans Unicode"/>
              </a:rPr>
              <a:t>(512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GB–2</a:t>
            </a:r>
            <a:r>
              <a:rPr sz="3400" spc="-180" dirty="0">
                <a:latin typeface="Lucida Sans Unicode"/>
                <a:cs typeface="Lucida Sans Unicode"/>
              </a:rPr>
              <a:t> </a:t>
            </a:r>
            <a:r>
              <a:rPr sz="3400" spc="35" dirty="0">
                <a:latin typeface="Lucida Sans Unicode"/>
                <a:cs typeface="Lucida Sans Unicode"/>
              </a:rPr>
              <a:t>TB)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370"/>
              </a:spcBef>
            </a:pPr>
            <a:r>
              <a:rPr sz="3400" spc="170" dirty="0">
                <a:latin typeface="Lucida Sans Unicode"/>
                <a:cs typeface="Lucida Sans Unicode"/>
              </a:rPr>
              <a:t>GPU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(if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100" dirty="0">
                <a:latin typeface="Lucida Sans Unicode"/>
                <a:cs typeface="Lucida Sans Unicode"/>
              </a:rPr>
              <a:t>using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deep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60" dirty="0">
                <a:latin typeface="Lucida Sans Unicode"/>
                <a:cs typeface="Lucida Sans Unicode"/>
              </a:rPr>
              <a:t>learning):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NVIDIA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35" dirty="0">
                <a:latin typeface="Lucida Sans Unicode"/>
                <a:cs typeface="Lucida Sans Unicode"/>
              </a:rPr>
              <a:t>RTX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35" dirty="0">
                <a:latin typeface="Lucida Sans Unicode"/>
                <a:cs typeface="Lucida Sans Unicode"/>
              </a:rPr>
              <a:t>3060/4060/4090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with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CUDA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support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675"/>
              </a:spcBef>
            </a:pPr>
            <a:r>
              <a:rPr sz="4200" u="heavy" spc="-305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Software</a:t>
            </a:r>
            <a:r>
              <a:rPr sz="4200" u="heavy" spc="-385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 </a:t>
            </a:r>
            <a:r>
              <a:rPr sz="4200" u="heavy" spc="-290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Requirements</a:t>
            </a:r>
            <a:endParaRPr sz="4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975"/>
              </a:spcBef>
            </a:pPr>
            <a:r>
              <a:rPr sz="3400" spc="80" dirty="0">
                <a:latin typeface="Lucida Sans Unicode"/>
                <a:cs typeface="Lucida Sans Unicode"/>
              </a:rPr>
              <a:t>Python</a:t>
            </a:r>
            <a:endParaRPr sz="3400">
              <a:latin typeface="Lucida Sans Unicode"/>
              <a:cs typeface="Lucida Sans Unicode"/>
            </a:endParaRPr>
          </a:p>
          <a:p>
            <a:pPr marL="12700" marR="13107669">
              <a:lnSpc>
                <a:spcPct val="115799"/>
              </a:lnSpc>
            </a:pPr>
            <a:r>
              <a:rPr sz="3400" spc="85" dirty="0">
                <a:latin typeface="Lucida Sans Unicode"/>
                <a:cs typeface="Lucida Sans Unicode"/>
              </a:rPr>
              <a:t>R</a:t>
            </a:r>
            <a:r>
              <a:rPr sz="3400" spc="-245" dirty="0">
                <a:latin typeface="Lucida Sans Unicode"/>
                <a:cs typeface="Lucida Sans Unicode"/>
              </a:rPr>
              <a:t> </a:t>
            </a:r>
            <a:r>
              <a:rPr sz="3400" spc="-45" dirty="0">
                <a:latin typeface="Lucida Sans Unicode"/>
                <a:cs typeface="Lucida Sans Unicode"/>
              </a:rPr>
              <a:t>Programming </a:t>
            </a:r>
            <a:r>
              <a:rPr sz="3400" spc="114" dirty="0">
                <a:latin typeface="Lucida Sans Unicode"/>
                <a:cs typeface="Lucida Sans Unicode"/>
              </a:rPr>
              <a:t>AWS</a:t>
            </a:r>
            <a:r>
              <a:rPr sz="3400" spc="-240" dirty="0">
                <a:latin typeface="Lucida Sans Unicode"/>
                <a:cs typeface="Lucida Sans Unicode"/>
              </a:rPr>
              <a:t> </a:t>
            </a:r>
            <a:r>
              <a:rPr sz="3400" spc="-25" dirty="0">
                <a:latin typeface="Lucida Sans Unicode"/>
                <a:cs typeface="Lucida Sans Unicode"/>
              </a:rPr>
              <a:t>S3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3400" dirty="0">
                <a:latin typeface="Lucida Sans Unicode"/>
                <a:cs typeface="Lucida Sans Unicode"/>
              </a:rPr>
              <a:t>Skipt</a:t>
            </a:r>
            <a:r>
              <a:rPr sz="3400" spc="-254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Learning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6877684"/>
            <a:ext cx="152400" cy="152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7563484"/>
            <a:ext cx="152400" cy="152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0174" y="8249284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8935084"/>
            <a:ext cx="152400" cy="1523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1000759"/>
            <a:ext cx="341820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Advantages-</a:t>
            </a:r>
            <a:r>
              <a:rPr spc="-305" dirty="0"/>
              <a:t>: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2036896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2722696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3408496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4094296"/>
            <a:ext cx="152400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4780096"/>
            <a:ext cx="152400" cy="1523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16000" y="1643825"/>
            <a:ext cx="16024225" cy="7609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6125" marR="5080">
              <a:lnSpc>
                <a:spcPct val="132400"/>
              </a:lnSpc>
              <a:spcBef>
                <a:spcPts val="95"/>
              </a:spcBef>
            </a:pPr>
            <a:r>
              <a:rPr sz="3400" dirty="0">
                <a:latin typeface="Lucida Sans Unicode"/>
                <a:cs typeface="Lucida Sans Unicode"/>
              </a:rPr>
              <a:t>Studying</a:t>
            </a:r>
            <a:r>
              <a:rPr sz="3400" spc="-20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climate</a:t>
            </a:r>
            <a:r>
              <a:rPr sz="3400" spc="-200" dirty="0">
                <a:latin typeface="Lucida Sans Unicode"/>
                <a:cs typeface="Lucida Sans Unicode"/>
              </a:rPr>
              <a:t> </a:t>
            </a:r>
            <a:r>
              <a:rPr sz="3400" spc="-30" dirty="0">
                <a:latin typeface="Lucida Sans Unicode"/>
                <a:cs typeface="Lucida Sans Unicode"/>
              </a:rPr>
              <a:t>change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helps</a:t>
            </a:r>
            <a:r>
              <a:rPr sz="3400" spc="-20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farmers</a:t>
            </a:r>
            <a:r>
              <a:rPr sz="3400" spc="-200" dirty="0">
                <a:latin typeface="Lucida Sans Unicode"/>
                <a:cs typeface="Lucida Sans Unicode"/>
              </a:rPr>
              <a:t> </a:t>
            </a:r>
            <a:r>
              <a:rPr sz="3400" spc="50" dirty="0">
                <a:latin typeface="Lucida Sans Unicode"/>
                <a:cs typeface="Lucida Sans Unicode"/>
              </a:rPr>
              <a:t>protect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their</a:t>
            </a:r>
            <a:r>
              <a:rPr sz="3400" spc="-20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crops</a:t>
            </a:r>
            <a:r>
              <a:rPr sz="3400" spc="-200" dirty="0">
                <a:latin typeface="Lucida Sans Unicode"/>
                <a:cs typeface="Lucida Sans Unicode"/>
              </a:rPr>
              <a:t> </a:t>
            </a:r>
            <a:r>
              <a:rPr sz="3400" spc="-20" dirty="0">
                <a:latin typeface="Lucida Sans Unicode"/>
                <a:cs typeface="Lucida Sans Unicode"/>
              </a:rPr>
              <a:t>from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damage. </a:t>
            </a:r>
            <a:r>
              <a:rPr sz="3400" spc="75" dirty="0">
                <a:latin typeface="Lucida Sans Unicode"/>
                <a:cs typeface="Lucida Sans Unicode"/>
              </a:rPr>
              <a:t>It</a:t>
            </a:r>
            <a:r>
              <a:rPr sz="3400" spc="-21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allows</a:t>
            </a:r>
            <a:r>
              <a:rPr sz="3400" spc="-204" dirty="0">
                <a:latin typeface="Lucida Sans Unicode"/>
                <a:cs typeface="Lucida Sans Unicode"/>
              </a:rPr>
              <a:t> </a:t>
            </a:r>
            <a:r>
              <a:rPr sz="3400" spc="-55" dirty="0">
                <a:latin typeface="Lucida Sans Unicode"/>
                <a:cs typeface="Lucida Sans Unicode"/>
              </a:rPr>
              <a:t>us</a:t>
            </a:r>
            <a:r>
              <a:rPr sz="3400" spc="-21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to</a:t>
            </a:r>
            <a:r>
              <a:rPr sz="3400" spc="-204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improve</a:t>
            </a:r>
            <a:r>
              <a:rPr sz="3400" spc="-204" dirty="0">
                <a:latin typeface="Lucida Sans Unicode"/>
                <a:cs typeface="Lucida Sans Unicode"/>
              </a:rPr>
              <a:t> </a:t>
            </a:r>
            <a:r>
              <a:rPr sz="3400" spc="-60" dirty="0">
                <a:latin typeface="Lucida Sans Unicode"/>
                <a:cs typeface="Lucida Sans Unicode"/>
              </a:rPr>
              <a:t>farming</a:t>
            </a:r>
            <a:r>
              <a:rPr sz="3400" spc="-21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methods</a:t>
            </a:r>
            <a:r>
              <a:rPr sz="3400" spc="-204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for</a:t>
            </a:r>
            <a:r>
              <a:rPr sz="3400" spc="-204" dirty="0">
                <a:latin typeface="Lucida Sans Unicode"/>
                <a:cs typeface="Lucida Sans Unicode"/>
              </a:rPr>
              <a:t> </a:t>
            </a:r>
            <a:r>
              <a:rPr sz="3400" spc="-70" dirty="0">
                <a:latin typeface="Lucida Sans Unicode"/>
                <a:cs typeface="Lucida Sans Unicode"/>
              </a:rPr>
              <a:t>changing</a:t>
            </a:r>
            <a:r>
              <a:rPr sz="3400" spc="-21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weather</a:t>
            </a:r>
            <a:r>
              <a:rPr sz="3400" spc="-204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conditions. </a:t>
            </a:r>
            <a:r>
              <a:rPr sz="3400" spc="75" dirty="0">
                <a:latin typeface="Lucida Sans Unicode"/>
                <a:cs typeface="Lucida Sans Unicode"/>
              </a:rPr>
              <a:t>It</a:t>
            </a:r>
            <a:r>
              <a:rPr sz="3400" spc="-20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helps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20" dirty="0">
                <a:latin typeface="Lucida Sans Unicode"/>
                <a:cs typeface="Lucida Sans Unicode"/>
              </a:rPr>
              <a:t>ensure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there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80" dirty="0">
                <a:latin typeface="Lucida Sans Unicode"/>
                <a:cs typeface="Lucida Sans Unicode"/>
              </a:rPr>
              <a:t>is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60" dirty="0">
                <a:latin typeface="Lucida Sans Unicode"/>
                <a:cs typeface="Lucida Sans Unicode"/>
              </a:rPr>
              <a:t>enough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food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for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people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55" dirty="0">
                <a:latin typeface="Lucida Sans Unicode"/>
                <a:cs typeface="Lucida Sans Unicode"/>
              </a:rPr>
              <a:t>in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the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future.</a:t>
            </a:r>
            <a:endParaRPr sz="3400">
              <a:latin typeface="Lucida Sans Unicode"/>
              <a:cs typeface="Lucida Sans Unicode"/>
            </a:endParaRPr>
          </a:p>
          <a:p>
            <a:pPr marL="746125" marR="1306195">
              <a:lnSpc>
                <a:spcPts val="5400"/>
              </a:lnSpc>
              <a:spcBef>
                <a:spcPts val="400"/>
              </a:spcBef>
            </a:pPr>
            <a:r>
              <a:rPr sz="3400" spc="75" dirty="0">
                <a:latin typeface="Lucida Sans Unicode"/>
                <a:cs typeface="Lucida Sans Unicode"/>
              </a:rPr>
              <a:t>It</a:t>
            </a:r>
            <a:r>
              <a:rPr sz="3400" spc="-220" dirty="0">
                <a:latin typeface="Lucida Sans Unicode"/>
                <a:cs typeface="Lucida Sans Unicode"/>
              </a:rPr>
              <a:t> </a:t>
            </a:r>
            <a:r>
              <a:rPr sz="3400" spc="-65" dirty="0">
                <a:latin typeface="Lucida Sans Unicode"/>
                <a:cs typeface="Lucida Sans Unicode"/>
              </a:rPr>
              <a:t>guides</a:t>
            </a:r>
            <a:r>
              <a:rPr sz="3400" spc="-220" dirty="0">
                <a:latin typeface="Lucida Sans Unicode"/>
                <a:cs typeface="Lucida Sans Unicode"/>
              </a:rPr>
              <a:t> </a:t>
            </a:r>
            <a:r>
              <a:rPr sz="3400" spc="-20" dirty="0">
                <a:latin typeface="Lucida Sans Unicode"/>
                <a:cs typeface="Lucida Sans Unicode"/>
              </a:rPr>
              <a:t>governments</a:t>
            </a:r>
            <a:r>
              <a:rPr sz="3400" spc="-22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and</a:t>
            </a:r>
            <a:r>
              <a:rPr sz="3400" spc="-22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farmers</a:t>
            </a:r>
            <a:r>
              <a:rPr sz="3400" spc="-220" dirty="0">
                <a:latin typeface="Lucida Sans Unicode"/>
                <a:cs typeface="Lucida Sans Unicode"/>
              </a:rPr>
              <a:t> </a:t>
            </a:r>
            <a:r>
              <a:rPr sz="3400" spc="-55" dirty="0">
                <a:latin typeface="Lucida Sans Unicode"/>
                <a:cs typeface="Lucida Sans Unicode"/>
              </a:rPr>
              <a:t>in</a:t>
            </a:r>
            <a:r>
              <a:rPr sz="3400" spc="-220" dirty="0">
                <a:latin typeface="Lucida Sans Unicode"/>
                <a:cs typeface="Lucida Sans Unicode"/>
              </a:rPr>
              <a:t> </a:t>
            </a:r>
            <a:r>
              <a:rPr sz="3400" spc="-125" dirty="0">
                <a:latin typeface="Lucida Sans Unicode"/>
                <a:cs typeface="Lucida Sans Unicode"/>
              </a:rPr>
              <a:t>making</a:t>
            </a:r>
            <a:r>
              <a:rPr sz="3400" spc="-220" dirty="0">
                <a:latin typeface="Lucida Sans Unicode"/>
                <a:cs typeface="Lucida Sans Unicode"/>
              </a:rPr>
              <a:t> </a:t>
            </a:r>
            <a:r>
              <a:rPr sz="3400" spc="50" dirty="0">
                <a:latin typeface="Lucida Sans Unicode"/>
                <a:cs typeface="Lucida Sans Unicode"/>
              </a:rPr>
              <a:t>better</a:t>
            </a:r>
            <a:r>
              <a:rPr sz="3400" spc="-220" dirty="0">
                <a:latin typeface="Lucida Sans Unicode"/>
                <a:cs typeface="Lucida Sans Unicode"/>
              </a:rPr>
              <a:t> </a:t>
            </a:r>
            <a:r>
              <a:rPr sz="3400" spc="-140" dirty="0">
                <a:latin typeface="Lucida Sans Unicode"/>
                <a:cs typeface="Lucida Sans Unicode"/>
              </a:rPr>
              <a:t>land-</a:t>
            </a:r>
            <a:r>
              <a:rPr sz="3400" spc="-30" dirty="0">
                <a:latin typeface="Lucida Sans Unicode"/>
                <a:cs typeface="Lucida Sans Unicode"/>
              </a:rPr>
              <a:t>use</a:t>
            </a:r>
            <a:r>
              <a:rPr sz="3400" spc="-22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plans. </a:t>
            </a:r>
            <a:r>
              <a:rPr sz="3400" spc="75" dirty="0">
                <a:latin typeface="Lucida Sans Unicode"/>
                <a:cs typeface="Lucida Sans Unicode"/>
              </a:rPr>
              <a:t>It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helps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55" dirty="0">
                <a:latin typeface="Lucida Sans Unicode"/>
                <a:cs typeface="Lucida Sans Unicode"/>
              </a:rPr>
              <a:t>us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30" dirty="0">
                <a:latin typeface="Lucida Sans Unicode"/>
                <a:cs typeface="Lucida Sans Unicode"/>
              </a:rPr>
              <a:t>use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water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and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40" dirty="0">
                <a:latin typeface="Lucida Sans Unicode"/>
                <a:cs typeface="Lucida Sans Unicode"/>
              </a:rPr>
              <a:t>soil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20" dirty="0">
                <a:latin typeface="Lucida Sans Unicode"/>
                <a:cs typeface="Lucida Sans Unicode"/>
              </a:rPr>
              <a:t>more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carefully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and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efficiently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830"/>
              </a:spcBef>
            </a:pPr>
            <a:r>
              <a:rPr sz="4200" u="heavy" spc="-275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Disadvantages-</a:t>
            </a:r>
            <a:r>
              <a:rPr sz="4200" u="heavy" spc="-305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:</a:t>
            </a:r>
            <a:endParaRPr sz="4200">
              <a:latin typeface="Arial Black"/>
              <a:cs typeface="Arial Black"/>
            </a:endParaRPr>
          </a:p>
          <a:p>
            <a:pPr marL="746125">
              <a:lnSpc>
                <a:spcPct val="100000"/>
              </a:lnSpc>
              <a:spcBef>
                <a:spcPts val="2170"/>
              </a:spcBef>
            </a:pPr>
            <a:r>
              <a:rPr sz="3400" spc="-210" dirty="0">
                <a:latin typeface="Lucida Sans Unicode"/>
                <a:cs typeface="Lucida Sans Unicode"/>
              </a:rPr>
              <a:t>Time-</a:t>
            </a:r>
            <a:r>
              <a:rPr sz="3400" spc="-55" dirty="0">
                <a:latin typeface="Lucida Sans Unicode"/>
                <a:cs typeface="Lucida Sans Unicode"/>
              </a:rPr>
              <a:t>consuming</a:t>
            </a:r>
            <a:r>
              <a:rPr sz="3400" spc="-16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and</a:t>
            </a:r>
            <a:r>
              <a:rPr sz="3400" spc="-155" dirty="0">
                <a:latin typeface="Lucida Sans Unicode"/>
                <a:cs typeface="Lucida Sans Unicode"/>
              </a:rPr>
              <a:t> </a:t>
            </a:r>
            <a:r>
              <a:rPr sz="3400" spc="-120" dirty="0">
                <a:latin typeface="Lucida Sans Unicode"/>
                <a:cs typeface="Lucida Sans Unicode"/>
              </a:rPr>
              <a:t>labor-</a:t>
            </a:r>
            <a:r>
              <a:rPr sz="3400" spc="-10" dirty="0">
                <a:latin typeface="Lucida Sans Unicode"/>
                <a:cs typeface="Lucida Sans Unicode"/>
              </a:rPr>
              <a:t>intensive.</a:t>
            </a:r>
            <a:endParaRPr sz="3400">
              <a:latin typeface="Lucida Sans Unicode"/>
              <a:cs typeface="Lucida Sans Unicode"/>
            </a:endParaRPr>
          </a:p>
          <a:p>
            <a:pPr marL="746125" marR="3510915" indent="105410">
              <a:lnSpc>
                <a:spcPts val="5400"/>
              </a:lnSpc>
              <a:spcBef>
                <a:spcPts val="400"/>
              </a:spcBef>
            </a:pPr>
            <a:r>
              <a:rPr sz="3400" dirty="0">
                <a:latin typeface="Lucida Sans Unicode"/>
                <a:cs typeface="Lucida Sans Unicode"/>
              </a:rPr>
              <a:t>Limited</a:t>
            </a:r>
            <a:r>
              <a:rPr sz="3400" spc="-160" dirty="0">
                <a:latin typeface="Lucida Sans Unicode"/>
                <a:cs typeface="Lucida Sans Unicode"/>
              </a:rPr>
              <a:t> </a:t>
            </a:r>
            <a:r>
              <a:rPr sz="3400" spc="-55" dirty="0">
                <a:latin typeface="Lucida Sans Unicode"/>
                <a:cs typeface="Lucida Sans Unicode"/>
              </a:rPr>
              <a:t>in</a:t>
            </a:r>
            <a:r>
              <a:rPr sz="3400" spc="-15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predictive</a:t>
            </a:r>
            <a:r>
              <a:rPr sz="3400" spc="-16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power</a:t>
            </a:r>
            <a:r>
              <a:rPr sz="3400" spc="-15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for</a:t>
            </a:r>
            <a:r>
              <a:rPr sz="3400" spc="-16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future</a:t>
            </a:r>
            <a:r>
              <a:rPr sz="3400" spc="-15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climate</a:t>
            </a:r>
            <a:r>
              <a:rPr sz="3400" spc="-15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scenarios. </a:t>
            </a:r>
            <a:r>
              <a:rPr sz="3400" dirty="0">
                <a:latin typeface="Lucida Sans Unicode"/>
                <a:cs typeface="Lucida Sans Unicode"/>
              </a:rPr>
              <a:t>Often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45" dirty="0">
                <a:latin typeface="Lucida Sans Unicode"/>
                <a:cs typeface="Lucida Sans Unicode"/>
              </a:rPr>
              <a:t>lacks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spc="60" dirty="0">
                <a:latin typeface="Lucida Sans Unicode"/>
                <a:cs typeface="Lucida Sans Unicode"/>
              </a:rPr>
              <a:t>accuracy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and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transparency.</a:t>
            </a:r>
            <a:endParaRPr sz="3400">
              <a:latin typeface="Lucida Sans Unicode"/>
              <a:cs typeface="Lucida Sans Unicode"/>
            </a:endParaRPr>
          </a:p>
          <a:p>
            <a:pPr marL="852169">
              <a:lnSpc>
                <a:spcPct val="100000"/>
              </a:lnSpc>
              <a:spcBef>
                <a:spcPts val="920"/>
              </a:spcBef>
            </a:pPr>
            <a:r>
              <a:rPr sz="3400" dirty="0">
                <a:latin typeface="Lucida Sans Unicode"/>
                <a:cs typeface="Lucida Sans Unicode"/>
              </a:rPr>
              <a:t>Doesn't</a:t>
            </a:r>
            <a:r>
              <a:rPr sz="3400" spc="-17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adapt</a:t>
            </a:r>
            <a:r>
              <a:rPr sz="3400" spc="-17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well</a:t>
            </a:r>
            <a:r>
              <a:rPr sz="3400" spc="-16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to</a:t>
            </a:r>
            <a:r>
              <a:rPr sz="3400" spc="-17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sudden</a:t>
            </a:r>
            <a:r>
              <a:rPr sz="3400" spc="-17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climate</a:t>
            </a:r>
            <a:r>
              <a:rPr sz="3400" spc="-165" dirty="0">
                <a:latin typeface="Lucida Sans Unicode"/>
                <a:cs typeface="Lucida Sans Unicode"/>
              </a:rPr>
              <a:t> </a:t>
            </a:r>
            <a:r>
              <a:rPr sz="3400" spc="-35" dirty="0">
                <a:latin typeface="Lucida Sans Unicode"/>
                <a:cs typeface="Lucida Sans Unicode"/>
              </a:rPr>
              <a:t>changes</a:t>
            </a:r>
            <a:r>
              <a:rPr sz="3400" spc="-17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or</a:t>
            </a:r>
            <a:r>
              <a:rPr sz="3400" spc="-16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new</a:t>
            </a:r>
            <a:r>
              <a:rPr sz="3400" spc="-17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patterns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99794" algn="just">
              <a:lnSpc>
                <a:spcPct val="132400"/>
              </a:lnSpc>
              <a:spcBef>
                <a:spcPts val="95"/>
              </a:spcBef>
            </a:pPr>
            <a:r>
              <a:rPr dirty="0"/>
              <a:t>Climate</a:t>
            </a:r>
            <a:r>
              <a:rPr spc="80" dirty="0"/>
              <a:t> </a:t>
            </a:r>
            <a:r>
              <a:rPr dirty="0"/>
              <a:t>change</a:t>
            </a:r>
            <a:r>
              <a:rPr spc="80" dirty="0"/>
              <a:t> </a:t>
            </a:r>
            <a:r>
              <a:rPr dirty="0"/>
              <a:t>profoundly</a:t>
            </a:r>
            <a:r>
              <a:rPr spc="85" dirty="0"/>
              <a:t> </a:t>
            </a:r>
            <a:r>
              <a:rPr dirty="0"/>
              <a:t>impacts</a:t>
            </a:r>
            <a:r>
              <a:rPr spc="80" dirty="0"/>
              <a:t> </a:t>
            </a:r>
            <a:r>
              <a:rPr dirty="0"/>
              <a:t>agricultural</a:t>
            </a:r>
            <a:r>
              <a:rPr spc="85" dirty="0"/>
              <a:t> </a:t>
            </a:r>
            <a:r>
              <a:rPr dirty="0"/>
              <a:t>land</a:t>
            </a:r>
            <a:r>
              <a:rPr spc="80" dirty="0"/>
              <a:t> </a:t>
            </a:r>
            <a:r>
              <a:rPr dirty="0"/>
              <a:t>suitability</a:t>
            </a:r>
            <a:r>
              <a:rPr spc="85" dirty="0"/>
              <a:t> </a:t>
            </a:r>
            <a:r>
              <a:rPr dirty="0"/>
              <a:t>in</a:t>
            </a:r>
            <a:r>
              <a:rPr spc="80" dirty="0"/>
              <a:t> </a:t>
            </a:r>
            <a:r>
              <a:rPr spc="-10" dirty="0"/>
              <a:t>Eurasia, </a:t>
            </a:r>
            <a:r>
              <a:rPr dirty="0"/>
              <a:t>with</a:t>
            </a:r>
            <a:r>
              <a:rPr spc="695" dirty="0"/>
              <a:t> </a:t>
            </a:r>
            <a:r>
              <a:rPr dirty="0"/>
              <a:t>regional</a:t>
            </a:r>
            <a:r>
              <a:rPr spc="695" dirty="0"/>
              <a:t> </a:t>
            </a:r>
            <a:r>
              <a:rPr dirty="0"/>
              <a:t>variability</a:t>
            </a:r>
            <a:r>
              <a:rPr spc="695" dirty="0"/>
              <a:t> </a:t>
            </a:r>
            <a:r>
              <a:rPr dirty="0"/>
              <a:t>requiring</a:t>
            </a:r>
            <a:r>
              <a:rPr spc="700" dirty="0"/>
              <a:t> </a:t>
            </a:r>
            <a:r>
              <a:rPr dirty="0"/>
              <a:t>tailored</a:t>
            </a:r>
            <a:r>
              <a:rPr spc="695" dirty="0"/>
              <a:t> </a:t>
            </a:r>
            <a:r>
              <a:rPr dirty="0"/>
              <a:t>responses.</a:t>
            </a:r>
            <a:r>
              <a:rPr spc="695" dirty="0"/>
              <a:t> </a:t>
            </a:r>
            <a:r>
              <a:rPr dirty="0"/>
              <a:t>Interpretable</a:t>
            </a:r>
            <a:r>
              <a:rPr spc="695" dirty="0"/>
              <a:t> </a:t>
            </a:r>
            <a:r>
              <a:rPr spc="-10" dirty="0"/>
              <a:t>machine </a:t>
            </a:r>
            <a:r>
              <a:rPr spc="-40" dirty="0"/>
              <a:t>learning</a:t>
            </a:r>
            <a:r>
              <a:rPr spc="-150" dirty="0"/>
              <a:t> </a:t>
            </a:r>
            <a:r>
              <a:rPr dirty="0"/>
              <a:t>offers</a:t>
            </a:r>
            <a:r>
              <a:rPr spc="-145" dirty="0"/>
              <a:t> </a:t>
            </a:r>
            <a:r>
              <a:rPr dirty="0"/>
              <a:t>powerful</a:t>
            </a:r>
            <a:r>
              <a:rPr spc="-150" dirty="0"/>
              <a:t> </a:t>
            </a:r>
            <a:r>
              <a:rPr dirty="0"/>
              <a:t>tools</a:t>
            </a:r>
            <a:r>
              <a:rPr spc="-145" dirty="0"/>
              <a:t> </a:t>
            </a:r>
            <a:r>
              <a:rPr dirty="0"/>
              <a:t>to</a:t>
            </a:r>
            <a:r>
              <a:rPr spc="-150" dirty="0"/>
              <a:t> </a:t>
            </a:r>
            <a:r>
              <a:rPr spc="-25" dirty="0"/>
              <a:t>assess</a:t>
            </a:r>
            <a:r>
              <a:rPr spc="-145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dirty="0"/>
              <a:t>predict</a:t>
            </a:r>
            <a:r>
              <a:rPr spc="-145" dirty="0"/>
              <a:t> </a:t>
            </a:r>
            <a:r>
              <a:rPr dirty="0"/>
              <a:t>these</a:t>
            </a:r>
            <a:r>
              <a:rPr spc="-150" dirty="0"/>
              <a:t> </a:t>
            </a:r>
            <a:r>
              <a:rPr spc="-55" dirty="0"/>
              <a:t>changes,</a:t>
            </a:r>
            <a:r>
              <a:rPr spc="-145" dirty="0"/>
              <a:t> </a:t>
            </a:r>
            <a:r>
              <a:rPr spc="-10" dirty="0"/>
              <a:t>empowering </a:t>
            </a:r>
            <a:r>
              <a:rPr dirty="0"/>
              <a:t>stakeholders</a:t>
            </a:r>
            <a:r>
              <a:rPr spc="254" dirty="0"/>
              <a:t>  </a:t>
            </a:r>
            <a:r>
              <a:rPr dirty="0"/>
              <a:t>to</a:t>
            </a:r>
            <a:r>
              <a:rPr spc="254" dirty="0"/>
              <a:t>  </a:t>
            </a:r>
            <a:r>
              <a:rPr dirty="0"/>
              <a:t>implement</a:t>
            </a:r>
            <a:r>
              <a:rPr spc="254" dirty="0"/>
              <a:t>  </a:t>
            </a:r>
            <a:r>
              <a:rPr dirty="0"/>
              <a:t>adaptive,</a:t>
            </a:r>
            <a:r>
              <a:rPr spc="260" dirty="0"/>
              <a:t>  </a:t>
            </a:r>
            <a:r>
              <a:rPr dirty="0"/>
              <a:t>sustainable</a:t>
            </a:r>
            <a:r>
              <a:rPr spc="254" dirty="0"/>
              <a:t>  </a:t>
            </a:r>
            <a:r>
              <a:rPr dirty="0"/>
              <a:t>practices</a:t>
            </a:r>
            <a:r>
              <a:rPr spc="254" dirty="0"/>
              <a:t>  </a:t>
            </a:r>
            <a:r>
              <a:rPr dirty="0"/>
              <a:t>that</a:t>
            </a:r>
            <a:r>
              <a:rPr spc="254" dirty="0"/>
              <a:t>  </a:t>
            </a:r>
            <a:r>
              <a:rPr spc="-10" dirty="0"/>
              <a:t>enhance resilience</a:t>
            </a:r>
            <a:r>
              <a:rPr spc="-190" dirty="0"/>
              <a:t> </a:t>
            </a:r>
            <a:r>
              <a:rPr dirty="0"/>
              <a:t>and</a:t>
            </a:r>
            <a:r>
              <a:rPr spc="-185" dirty="0"/>
              <a:t> </a:t>
            </a:r>
            <a:r>
              <a:rPr dirty="0"/>
              <a:t>food</a:t>
            </a:r>
            <a:r>
              <a:rPr spc="-190" dirty="0"/>
              <a:t> </a:t>
            </a:r>
            <a:r>
              <a:rPr dirty="0"/>
              <a:t>security</a:t>
            </a:r>
            <a:r>
              <a:rPr spc="-185" dirty="0"/>
              <a:t> </a:t>
            </a:r>
            <a:r>
              <a:rPr spc="-55" dirty="0"/>
              <a:t>in</a:t>
            </a:r>
            <a:r>
              <a:rPr spc="-185" dirty="0"/>
              <a:t> </a:t>
            </a:r>
            <a:r>
              <a:rPr dirty="0"/>
              <a:t>a</a:t>
            </a:r>
            <a:r>
              <a:rPr spc="-190" dirty="0"/>
              <a:t> </a:t>
            </a:r>
            <a:r>
              <a:rPr spc="-70" dirty="0"/>
              <a:t>changing</a:t>
            </a:r>
            <a:r>
              <a:rPr spc="-185" dirty="0"/>
              <a:t> </a:t>
            </a:r>
            <a:r>
              <a:rPr spc="-10" dirty="0"/>
              <a:t>environment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5" dirty="0"/>
              <a:t>Conclusion-</a:t>
            </a:r>
            <a:r>
              <a:rPr spc="-50" dirty="0"/>
              <a:t>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8051" y="3921238"/>
            <a:ext cx="9932035" cy="2394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50" u="none" spc="-1410" dirty="0"/>
              <a:t>Thank</a:t>
            </a:r>
            <a:r>
              <a:rPr sz="15550" u="none" spc="-1505" dirty="0"/>
              <a:t> </a:t>
            </a:r>
            <a:r>
              <a:rPr sz="15550" u="none" spc="-2475" dirty="0"/>
              <a:t>Y</a:t>
            </a:r>
            <a:r>
              <a:rPr sz="15550" u="none" spc="-1165" dirty="0"/>
              <a:t>o</a:t>
            </a:r>
            <a:r>
              <a:rPr sz="15550" u="none" spc="-1155" dirty="0"/>
              <a:t>u</a:t>
            </a:r>
            <a:endParaRPr sz="155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328</Words>
  <Application>Microsoft Office PowerPoint</Application>
  <PresentationFormat>Custom</PresentationFormat>
  <Paragraphs>38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JAYAMUKHI INSTITUTE OF TECHNOLOGICAL SCIENCE</vt:lpstr>
      <vt:lpstr>CONTENT</vt:lpstr>
      <vt:lpstr>ABSTRACT:-</vt:lpstr>
      <vt:lpstr>Hardware Requirements</vt:lpstr>
      <vt:lpstr>Advantages-:</vt:lpstr>
      <vt:lpstr>Conclusion-: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JAYAMUKHI INSTITUTE OF TECHNOLOGICAL SCIENCE Climate Change Impact on Agricultural</dc:title>
  <dc:creator>chinthalapudi aravind reddy</dc:creator>
  <cp:keywords>DAG5e7iASpI,BAGdlQoGClQ,0</cp:keywords>
  <cp:lastModifiedBy>User</cp:lastModifiedBy>
  <cp:revision>1</cp:revision>
  <dcterms:created xsi:type="dcterms:W3CDTF">2025-11-23T08:28:59Z</dcterms:created>
  <dcterms:modified xsi:type="dcterms:W3CDTF">2025-11-23T15:18:15Z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2025-11-23T00:00:00Z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2025-11-23T00:00:00Z</vt:filetime>
  </property>
  <property fmtid="{D5CDD505-2E9C-101B-9397-08002B2CF9AE}" pid="5" name="Producer">
    <vt:lpwstr>Canva</vt:lpwstr>
  </property>
</Properties>
</file>